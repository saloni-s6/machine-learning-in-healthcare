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4895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54864"/>
            <a:ext cx="2011680" cy="731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 of Industry Oriented Hands on Experience (22CS422)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74320" y="169164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in Healthcare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1064622" y="2491740"/>
            <a:ext cx="7439297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Saloni Kumari (2210992232)  </a:t>
            </a:r>
          </a:p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Kavita Jora (2210991773)</a:t>
            </a:r>
          </a:p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Lakshay Mittal  </a:t>
            </a: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(2210991842)</a:t>
            </a:r>
            <a:endParaRPr lang="en-US" sz="18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 Raj (2210992173)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64622" y="36164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74446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Preeti Saini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4279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Engineering,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4400" y="45537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Chitkara University, Punjab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73152"/>
            <a:ext cx="2011680" cy="7680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1078992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generate vast amounts of data — electronic health records (EHRs), diagnostic imaging, genomics, wearable device streams, and clinical notes — yet the majority of this data remains underutilised in routine clinical practice.</a:t>
            </a:r>
            <a:endParaRPr lang="en-US" sz="1550" dirty="0"/>
          </a:p>
          <a:p>
            <a:pPr marL="0" indent="0" algn="just">
              <a:buNone/>
            </a:pPr>
            <a:endParaRPr lang="en-US" sz="1550" dirty="0"/>
          </a:p>
          <a:p>
            <a:pPr marL="0" indent="0" algn="just"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offers a path to transform that unused data into actionable clinical intelligence. Unlike traditional rule-based systems, ML models learn directly from data, discovering which patterns actually predict outcomes without requiring a human expert to specify them in advance.</a:t>
            </a:r>
            <a:endParaRPr lang="en-US" sz="1550" dirty="0"/>
          </a:p>
          <a:p>
            <a:pPr marL="0" indent="0" algn="just">
              <a:buNone/>
            </a:pPr>
            <a:endParaRPr lang="en-US" sz="1550" dirty="0"/>
          </a:p>
          <a:p>
            <a:pPr marL="0" indent="0" algn="just"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evaluates seven machine learning algorithms across five high-priority clinical prediction tasks: diabetes onset detection, cardiovascular risk assessment, hospital readmission prediction, cancer detection, and sepsis early warning. The goal is to identify the most accurate and practically deployable approaches, and to outline a realistic pathway from research prototype to clinical adoption.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73152"/>
            <a:ext cx="2011680" cy="7680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Is Drowning in Unused Data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5760" y="1444752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clinical diagnosis relies on a physician synthesising large volumes of complex information — lab results, imaging, drug interactions, and patient history — often across many patients simultaneously. At scale, even the most skilled clinician cannot identify all statistically significant patterns in real time.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65760" y="2331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20040" y="2697480"/>
            <a:ext cx="2743200" cy="17830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" y="2697480"/>
            <a:ext cx="274320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2816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 Billion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11480" y="333756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annually to preventable hospital readmissions in the US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46120" y="2697480"/>
            <a:ext cx="2743200" cy="17830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46120" y="2697480"/>
            <a:ext cx="274320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46120" y="2816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270,000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337560" y="333756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Americans die from sepsis each year — early prediction saves lives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172200" y="2697480"/>
            <a:ext cx="2743200" cy="17830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72200" y="2697480"/>
            <a:ext cx="274320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72200" y="2816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&gt;94% Accuracy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263640" y="333756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by CNN models on chest X-ray pneumonia detection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Scope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73152"/>
            <a:ext cx="2011680" cy="7680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107899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Prediction Tasks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65760" y="1481328"/>
            <a:ext cx="4023360" cy="530352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1481328"/>
            <a:ext cx="64008" cy="5303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148132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Onset Detection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65760" y="2121408"/>
            <a:ext cx="4023360" cy="530352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" y="2121408"/>
            <a:ext cx="64008" cy="5303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212140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Risk Assessment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65760" y="2761488"/>
            <a:ext cx="4023360" cy="530352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" y="2761488"/>
            <a:ext cx="64008" cy="5303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276148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Readmission Prediction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65760" y="3401568"/>
            <a:ext cx="4023360" cy="530352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65760" y="3401568"/>
            <a:ext cx="64008" cy="5303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340156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Detection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65760" y="4041648"/>
            <a:ext cx="4023360" cy="530352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5760" y="4041648"/>
            <a:ext cx="64008" cy="5303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404164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 Early Warning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754880" y="10789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Algorithms Evaluated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4754880" y="1490472"/>
            <a:ext cx="201168" cy="20116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47488" y="14630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754880" y="1938528"/>
            <a:ext cx="201168" cy="20116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47488" y="19110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4754880" y="2386584"/>
            <a:ext cx="201168" cy="20116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47488" y="23591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 (SVM)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754880" y="2834640"/>
            <a:ext cx="201168" cy="20116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47488" y="28072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4754880" y="3282696"/>
            <a:ext cx="201168" cy="20116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047488" y="32552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4754880" y="3730752"/>
            <a:ext cx="201168" cy="20116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047488" y="37033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Neural Network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4754880" y="4178808"/>
            <a:ext cx="201168" cy="20116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047488" y="41513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(VGG-16) — Imaging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365760" y="4617720"/>
            <a:ext cx="8412480" cy="256032"/>
          </a:xfrm>
          <a:prstGeom prst="rect">
            <a:avLst/>
          </a:prstGeom>
          <a:solidFill>
            <a:srgbClr val="FFF0F0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57200" y="463600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6 publicly available sources — UCI, PhysioNet (MIMIC-III), Kaggle, NIH — totalling 200,000+ records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73152"/>
            <a:ext cx="2011680" cy="7680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10789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65760" y="1399032"/>
            <a:ext cx="8412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clinical data contains missing values, inconsistent coding, and measurement variation. Preprocessing addressed each issue systematically: median/mode imputation for variables missing under 5% of observations; K-Nearest Neighbours imputation for 5–20% missing; exclusion beyond 20%. Class imbalance was corrected using SMOTE, which improved average recall by 7.3 percentage points across all models.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23317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65760" y="26517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is insufficient for clinical evaluation. Five metrics were tracked across all experiments: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20040" y="2999232"/>
            <a:ext cx="2743200" cy="694944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" y="2999232"/>
            <a:ext cx="64008" cy="6949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304495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329184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all predictions that were correct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200400" y="2999232"/>
            <a:ext cx="2743200" cy="694944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00400" y="2999232"/>
            <a:ext cx="64008" cy="6949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37560" y="304495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337560" y="329184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predicted positives, how many were truly positive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080760" y="2999232"/>
            <a:ext cx="2743200" cy="694944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80760" y="2999232"/>
            <a:ext cx="64008" cy="6949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0" y="304495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217920" y="329184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actual disease cases, how many were detected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320040" y="3803904"/>
            <a:ext cx="2743200" cy="694944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20040" y="3803904"/>
            <a:ext cx="64008" cy="6949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384962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57200" y="409651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and recall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3200400" y="3803904"/>
            <a:ext cx="2743200" cy="694944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200400" y="3803904"/>
            <a:ext cx="64008" cy="6949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337560" y="384962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337560" y="409651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 ability across all decision thresholds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Overall Algorithm Performance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73152"/>
            <a:ext cx="2011680" cy="7680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28600" y="1051560"/>
            <a:ext cx="2377440" cy="43891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105156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606040" y="1051560"/>
            <a:ext cx="1097280" cy="43891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06040" y="105156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703320" y="1051560"/>
            <a:ext cx="1097280" cy="43891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03320" y="105156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800600" y="1051560"/>
            <a:ext cx="914400" cy="43891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00600" y="105156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715000" y="1051560"/>
            <a:ext cx="1097280" cy="43891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15000" y="105156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812280" y="1051560"/>
            <a:ext cx="1463040" cy="43891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12280" y="105156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228600" y="1490472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28600" y="1490472"/>
            <a:ext cx="2377440" cy="43891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2606040" y="1490472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606040" y="1490472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82.4%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3703320" y="1490472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03320" y="1490472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81.1%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800600" y="1490472"/>
            <a:ext cx="914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00600" y="149047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80.6%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715000" y="1490472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15000" y="1490472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80.8%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812280" y="1490472"/>
            <a:ext cx="1463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812280" y="149047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0.874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228600" y="1929384"/>
            <a:ext cx="237744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28600" y="1929384"/>
            <a:ext cx="2377440" cy="43891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2606040" y="1929384"/>
            <a:ext cx="109728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606040" y="192938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79.8%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3703320" y="1929384"/>
            <a:ext cx="109728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703320" y="192938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78.3%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4800600" y="1929384"/>
            <a:ext cx="91440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00600" y="192938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77.9%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5715000" y="1929384"/>
            <a:ext cx="109728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715000" y="192938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78.1%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6812280" y="1929384"/>
            <a:ext cx="146304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812280" y="192938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0.812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228600" y="2368296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28600" y="2368296"/>
            <a:ext cx="2377440" cy="43891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 Kernel)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2606040" y="2368296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606040" y="236829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3703320" y="2368296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703320" y="236829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84.7%</a:t>
            </a:r>
            <a:endParaRPr lang="en-US" sz="1300" dirty="0"/>
          </a:p>
        </p:txBody>
      </p:sp>
      <p:sp>
        <p:nvSpPr>
          <p:cNvPr id="50" name="Shape 47"/>
          <p:cNvSpPr/>
          <p:nvPr/>
        </p:nvSpPr>
        <p:spPr>
          <a:xfrm>
            <a:off x="4800600" y="2368296"/>
            <a:ext cx="914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800600" y="236829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83.9%</a:t>
            </a:r>
            <a:endParaRPr lang="en-US" sz="1300" dirty="0"/>
          </a:p>
        </p:txBody>
      </p:sp>
      <p:sp>
        <p:nvSpPr>
          <p:cNvPr id="52" name="Shape 49"/>
          <p:cNvSpPr/>
          <p:nvPr/>
        </p:nvSpPr>
        <p:spPr>
          <a:xfrm>
            <a:off x="5715000" y="2368296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715000" y="236829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84.3%</a:t>
            </a:r>
            <a:endParaRPr lang="en-US" sz="1300" dirty="0"/>
          </a:p>
        </p:txBody>
      </p:sp>
      <p:sp>
        <p:nvSpPr>
          <p:cNvPr id="54" name="Shape 51"/>
          <p:cNvSpPr/>
          <p:nvPr/>
        </p:nvSpPr>
        <p:spPr>
          <a:xfrm>
            <a:off x="6812280" y="2368296"/>
            <a:ext cx="1463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812280" y="236829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0.903</a:t>
            </a:r>
            <a:endParaRPr lang="en-US" sz="1300" dirty="0"/>
          </a:p>
        </p:txBody>
      </p:sp>
      <p:sp>
        <p:nvSpPr>
          <p:cNvPr id="56" name="Shape 53"/>
          <p:cNvSpPr/>
          <p:nvPr/>
        </p:nvSpPr>
        <p:spPr>
          <a:xfrm>
            <a:off x="228600" y="2807208"/>
            <a:ext cx="237744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228600" y="2807208"/>
            <a:ext cx="2377440" cy="43891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58" name="Shape 55"/>
          <p:cNvSpPr/>
          <p:nvPr/>
        </p:nvSpPr>
        <p:spPr>
          <a:xfrm>
            <a:off x="2606040" y="2807208"/>
            <a:ext cx="109728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2606040" y="280720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89.1%</a:t>
            </a:r>
            <a:endParaRPr lang="en-US" sz="1300" dirty="0"/>
          </a:p>
        </p:txBody>
      </p:sp>
      <p:sp>
        <p:nvSpPr>
          <p:cNvPr id="60" name="Shape 57"/>
          <p:cNvSpPr/>
          <p:nvPr/>
        </p:nvSpPr>
        <p:spPr>
          <a:xfrm>
            <a:off x="3703320" y="2807208"/>
            <a:ext cx="109728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3703320" y="280720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88.6%</a:t>
            </a:r>
            <a:endParaRPr lang="en-US" sz="1300" dirty="0"/>
          </a:p>
        </p:txBody>
      </p:sp>
      <p:sp>
        <p:nvSpPr>
          <p:cNvPr id="62" name="Shape 59"/>
          <p:cNvSpPr/>
          <p:nvPr/>
        </p:nvSpPr>
        <p:spPr>
          <a:xfrm>
            <a:off x="4800600" y="2807208"/>
            <a:ext cx="91440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800600" y="280720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88.0%</a:t>
            </a:r>
            <a:endParaRPr lang="en-US" sz="1300" dirty="0"/>
          </a:p>
        </p:txBody>
      </p:sp>
      <p:sp>
        <p:nvSpPr>
          <p:cNvPr id="64" name="Shape 61"/>
          <p:cNvSpPr/>
          <p:nvPr/>
        </p:nvSpPr>
        <p:spPr>
          <a:xfrm>
            <a:off x="5715000" y="2807208"/>
            <a:ext cx="109728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715000" y="280720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88.3%</a:t>
            </a:r>
            <a:endParaRPr lang="en-US" sz="1300" dirty="0"/>
          </a:p>
        </p:txBody>
      </p:sp>
      <p:sp>
        <p:nvSpPr>
          <p:cNvPr id="66" name="Shape 63"/>
          <p:cNvSpPr/>
          <p:nvPr/>
        </p:nvSpPr>
        <p:spPr>
          <a:xfrm>
            <a:off x="6812280" y="2807208"/>
            <a:ext cx="146304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812280" y="280720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0.941</a:t>
            </a:r>
            <a:endParaRPr lang="en-US" sz="1300" dirty="0"/>
          </a:p>
        </p:txBody>
      </p:sp>
      <p:sp>
        <p:nvSpPr>
          <p:cNvPr id="68" name="Shape 65"/>
          <p:cNvSpPr/>
          <p:nvPr/>
        </p:nvSpPr>
        <p:spPr>
          <a:xfrm>
            <a:off x="228600" y="3246120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228600" y="32461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</p:txBody>
      </p:sp>
      <p:sp>
        <p:nvSpPr>
          <p:cNvPr id="70" name="Shape 67"/>
          <p:cNvSpPr/>
          <p:nvPr/>
        </p:nvSpPr>
        <p:spPr>
          <a:xfrm>
            <a:off x="2606040" y="3246120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2606040" y="32461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91.3%</a:t>
            </a:r>
            <a:endParaRPr lang="en-US" sz="1300" dirty="0"/>
          </a:p>
        </p:txBody>
      </p:sp>
      <p:sp>
        <p:nvSpPr>
          <p:cNvPr id="72" name="Shape 69"/>
          <p:cNvSpPr/>
          <p:nvPr/>
        </p:nvSpPr>
        <p:spPr>
          <a:xfrm>
            <a:off x="3703320" y="3246120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3703320" y="32461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90.8%</a:t>
            </a:r>
            <a:endParaRPr lang="en-US" sz="1300" dirty="0"/>
          </a:p>
        </p:txBody>
      </p:sp>
      <p:sp>
        <p:nvSpPr>
          <p:cNvPr id="74" name="Shape 71"/>
          <p:cNvSpPr/>
          <p:nvPr/>
        </p:nvSpPr>
        <p:spPr>
          <a:xfrm>
            <a:off x="4800600" y="3246120"/>
            <a:ext cx="914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4800600" y="324612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90.4%</a:t>
            </a:r>
            <a:endParaRPr lang="en-US" sz="1300" dirty="0"/>
          </a:p>
        </p:txBody>
      </p:sp>
      <p:sp>
        <p:nvSpPr>
          <p:cNvPr id="76" name="Shape 73"/>
          <p:cNvSpPr/>
          <p:nvPr/>
        </p:nvSpPr>
        <p:spPr>
          <a:xfrm>
            <a:off x="5715000" y="3246120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715000" y="32461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90.6%</a:t>
            </a:r>
            <a:endParaRPr lang="en-US" sz="1300" dirty="0"/>
          </a:p>
        </p:txBody>
      </p:sp>
      <p:sp>
        <p:nvSpPr>
          <p:cNvPr id="78" name="Shape 75"/>
          <p:cNvSpPr/>
          <p:nvPr/>
        </p:nvSpPr>
        <p:spPr>
          <a:xfrm>
            <a:off x="6812280" y="3246120"/>
            <a:ext cx="1463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6812280" y="324612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0.957</a:t>
            </a:r>
            <a:endParaRPr lang="en-US" sz="1300" dirty="0"/>
          </a:p>
        </p:txBody>
      </p:sp>
      <p:sp>
        <p:nvSpPr>
          <p:cNvPr id="80" name="Shape 77"/>
          <p:cNvSpPr/>
          <p:nvPr/>
        </p:nvSpPr>
        <p:spPr>
          <a:xfrm>
            <a:off x="228600" y="3685032"/>
            <a:ext cx="237744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228600" y="3685032"/>
            <a:ext cx="2377440" cy="43891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Neural Network</a:t>
            </a:r>
            <a:endParaRPr lang="en-US" sz="1300" dirty="0"/>
          </a:p>
        </p:txBody>
      </p:sp>
      <p:sp>
        <p:nvSpPr>
          <p:cNvPr id="82" name="Shape 79"/>
          <p:cNvSpPr/>
          <p:nvPr/>
        </p:nvSpPr>
        <p:spPr>
          <a:xfrm>
            <a:off x="2606040" y="3685032"/>
            <a:ext cx="109728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2606040" y="3685032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92.7%</a:t>
            </a:r>
            <a:endParaRPr lang="en-US" sz="1300" dirty="0"/>
          </a:p>
        </p:txBody>
      </p:sp>
      <p:sp>
        <p:nvSpPr>
          <p:cNvPr id="84" name="Shape 81"/>
          <p:cNvSpPr/>
          <p:nvPr/>
        </p:nvSpPr>
        <p:spPr>
          <a:xfrm>
            <a:off x="3703320" y="3685032"/>
            <a:ext cx="109728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3703320" y="3685032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92.1%</a:t>
            </a:r>
            <a:endParaRPr lang="en-US" sz="1300" dirty="0"/>
          </a:p>
        </p:txBody>
      </p:sp>
      <p:sp>
        <p:nvSpPr>
          <p:cNvPr id="86" name="Shape 83"/>
          <p:cNvSpPr/>
          <p:nvPr/>
        </p:nvSpPr>
        <p:spPr>
          <a:xfrm>
            <a:off x="4800600" y="3685032"/>
            <a:ext cx="91440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4800600" y="368503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91.8%</a:t>
            </a:r>
            <a:endParaRPr lang="en-US" sz="1300" dirty="0"/>
          </a:p>
        </p:txBody>
      </p:sp>
      <p:sp>
        <p:nvSpPr>
          <p:cNvPr id="88" name="Shape 85"/>
          <p:cNvSpPr/>
          <p:nvPr/>
        </p:nvSpPr>
        <p:spPr>
          <a:xfrm>
            <a:off x="5715000" y="3685032"/>
            <a:ext cx="109728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5715000" y="3685032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91.9%</a:t>
            </a:r>
            <a:endParaRPr lang="en-US" sz="1300" dirty="0"/>
          </a:p>
        </p:txBody>
      </p:sp>
      <p:sp>
        <p:nvSpPr>
          <p:cNvPr id="90" name="Shape 87"/>
          <p:cNvSpPr/>
          <p:nvPr/>
        </p:nvSpPr>
        <p:spPr>
          <a:xfrm>
            <a:off x="6812280" y="3685032"/>
            <a:ext cx="146304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6812280" y="368503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0.968</a:t>
            </a:r>
            <a:endParaRPr lang="en-US" sz="1300" dirty="0"/>
          </a:p>
        </p:txBody>
      </p:sp>
      <p:sp>
        <p:nvSpPr>
          <p:cNvPr id="92" name="Shape 89"/>
          <p:cNvSpPr/>
          <p:nvPr/>
        </p:nvSpPr>
        <p:spPr>
          <a:xfrm>
            <a:off x="228600" y="4123944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228600" y="41239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(Imaging)</a:t>
            </a:r>
            <a:endParaRPr lang="en-US" sz="1300" dirty="0"/>
          </a:p>
        </p:txBody>
      </p:sp>
      <p:sp>
        <p:nvSpPr>
          <p:cNvPr id="94" name="Shape 91"/>
          <p:cNvSpPr/>
          <p:nvPr/>
        </p:nvSpPr>
        <p:spPr>
          <a:xfrm>
            <a:off x="2606040" y="4123944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2606040" y="412394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1300" dirty="0"/>
          </a:p>
        </p:txBody>
      </p:sp>
      <p:sp>
        <p:nvSpPr>
          <p:cNvPr id="96" name="Shape 93"/>
          <p:cNvSpPr/>
          <p:nvPr/>
        </p:nvSpPr>
        <p:spPr>
          <a:xfrm>
            <a:off x="3703320" y="4123944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703320" y="412394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93.7%</a:t>
            </a:r>
            <a:endParaRPr lang="en-US" sz="1300" dirty="0"/>
          </a:p>
        </p:txBody>
      </p:sp>
      <p:sp>
        <p:nvSpPr>
          <p:cNvPr id="98" name="Shape 95"/>
          <p:cNvSpPr/>
          <p:nvPr/>
        </p:nvSpPr>
        <p:spPr>
          <a:xfrm>
            <a:off x="4800600" y="4123944"/>
            <a:ext cx="914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4800600" y="412394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93.5%</a:t>
            </a:r>
            <a:endParaRPr lang="en-US" sz="1300" dirty="0"/>
          </a:p>
        </p:txBody>
      </p:sp>
      <p:sp>
        <p:nvSpPr>
          <p:cNvPr id="100" name="Shape 97"/>
          <p:cNvSpPr/>
          <p:nvPr/>
        </p:nvSpPr>
        <p:spPr>
          <a:xfrm>
            <a:off x="5715000" y="4123944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5715000" y="412394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93.6%</a:t>
            </a:r>
            <a:endParaRPr lang="en-US" sz="1300" dirty="0"/>
          </a:p>
        </p:txBody>
      </p:sp>
      <p:sp>
        <p:nvSpPr>
          <p:cNvPr id="102" name="Shape 99"/>
          <p:cNvSpPr/>
          <p:nvPr/>
        </p:nvSpPr>
        <p:spPr>
          <a:xfrm>
            <a:off x="6812280" y="4123944"/>
            <a:ext cx="1463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6812280" y="412394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0.981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Best Model Per Clinical Task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73152"/>
            <a:ext cx="2011680" cy="7680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28600" y="1051560"/>
            <a:ext cx="2194560" cy="4572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1051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Task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423160" y="1051560"/>
            <a:ext cx="1965960" cy="4572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23160" y="1051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89120" y="1051560"/>
            <a:ext cx="1005840" cy="4572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89120" y="10515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394960" y="1051560"/>
            <a:ext cx="1005840" cy="4572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94960" y="10515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0" y="1051560"/>
            <a:ext cx="2651760" cy="4572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0" y="1051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228600" y="1508760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28600" y="1508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Onset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2423160" y="1508760"/>
            <a:ext cx="1965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423160" y="15087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389120" y="150876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89120" y="15087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91.8%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394960" y="150876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94960" y="15087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0.962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400800" y="1508760"/>
            <a:ext cx="2651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0" y="1508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feature distributions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228600" y="1965960"/>
            <a:ext cx="219456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2860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Risk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2423160" y="1965960"/>
            <a:ext cx="196596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423160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Neural Network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4389120" y="1965960"/>
            <a:ext cx="100584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389120" y="1965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90.4%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5394960" y="1965960"/>
            <a:ext cx="100584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394960" y="1965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0.954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6400800" y="1965960"/>
            <a:ext cx="265176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00800" y="1965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temporal patterns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228600" y="2423160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28600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Readmission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2423160" y="2423160"/>
            <a:ext cx="1965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423160" y="24231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4389120" y="242316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389120" y="24231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87.3%</a:t>
            </a:r>
            <a:endParaRPr lang="en-US" sz="1250" dirty="0"/>
          </a:p>
        </p:txBody>
      </p:sp>
      <p:sp>
        <p:nvSpPr>
          <p:cNvPr id="44" name="Shape 41"/>
          <p:cNvSpPr/>
          <p:nvPr/>
        </p:nvSpPr>
        <p:spPr>
          <a:xfrm>
            <a:off x="5394960" y="242316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394960" y="24231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0.931</a:t>
            </a:r>
            <a:endParaRPr lang="en-US" sz="1250" dirty="0"/>
          </a:p>
        </p:txBody>
      </p:sp>
      <p:sp>
        <p:nvSpPr>
          <p:cNvPr id="46" name="Shape 43"/>
          <p:cNvSpPr/>
          <p:nvPr/>
        </p:nvSpPr>
        <p:spPr>
          <a:xfrm>
            <a:off x="6400800" y="2423160"/>
            <a:ext cx="2651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400800" y="2423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High-dimensional EHR data</a:t>
            </a:r>
            <a:endParaRPr lang="en-US" sz="1250" dirty="0"/>
          </a:p>
        </p:txBody>
      </p:sp>
      <p:sp>
        <p:nvSpPr>
          <p:cNvPr id="48" name="Shape 45"/>
          <p:cNvSpPr/>
          <p:nvPr/>
        </p:nvSpPr>
        <p:spPr>
          <a:xfrm>
            <a:off x="228600" y="2880360"/>
            <a:ext cx="219456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2860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Detection</a:t>
            </a:r>
            <a:endParaRPr lang="en-US" sz="1250" dirty="0"/>
          </a:p>
        </p:txBody>
      </p:sp>
      <p:sp>
        <p:nvSpPr>
          <p:cNvPr id="50" name="Shape 47"/>
          <p:cNvSpPr/>
          <p:nvPr/>
        </p:nvSpPr>
        <p:spPr>
          <a:xfrm>
            <a:off x="2423160" y="2880360"/>
            <a:ext cx="196596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423160" y="28803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50" dirty="0"/>
          </a:p>
        </p:txBody>
      </p:sp>
      <p:sp>
        <p:nvSpPr>
          <p:cNvPr id="52" name="Shape 49"/>
          <p:cNvSpPr/>
          <p:nvPr/>
        </p:nvSpPr>
        <p:spPr>
          <a:xfrm>
            <a:off x="4389120" y="2880360"/>
            <a:ext cx="100584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389120" y="28803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93.1%</a:t>
            </a:r>
            <a:endParaRPr lang="en-US" sz="1250" dirty="0"/>
          </a:p>
        </p:txBody>
      </p:sp>
      <p:sp>
        <p:nvSpPr>
          <p:cNvPr id="54" name="Shape 51"/>
          <p:cNvSpPr/>
          <p:nvPr/>
        </p:nvSpPr>
        <p:spPr>
          <a:xfrm>
            <a:off x="5394960" y="2880360"/>
            <a:ext cx="100584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394960" y="28803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0.971</a:t>
            </a:r>
            <a:endParaRPr lang="en-US" sz="1250" dirty="0"/>
          </a:p>
        </p:txBody>
      </p:sp>
      <p:sp>
        <p:nvSpPr>
          <p:cNvPr id="56" name="Shape 53"/>
          <p:cNvSpPr/>
          <p:nvPr/>
        </p:nvSpPr>
        <p:spPr>
          <a:xfrm>
            <a:off x="6400800" y="2880360"/>
            <a:ext cx="265176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400800" y="2880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requirements</a:t>
            </a:r>
            <a:endParaRPr lang="en-US" sz="1250" dirty="0"/>
          </a:p>
        </p:txBody>
      </p:sp>
      <p:sp>
        <p:nvSpPr>
          <p:cNvPr id="58" name="Shape 55"/>
          <p:cNvSpPr/>
          <p:nvPr/>
        </p:nvSpPr>
        <p:spPr>
          <a:xfrm>
            <a:off x="228600" y="3337560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22860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 Early Warning</a:t>
            </a:r>
            <a:endParaRPr lang="en-US" sz="1250" dirty="0"/>
          </a:p>
        </p:txBody>
      </p:sp>
      <p:sp>
        <p:nvSpPr>
          <p:cNvPr id="60" name="Shape 57"/>
          <p:cNvSpPr/>
          <p:nvPr/>
        </p:nvSpPr>
        <p:spPr>
          <a:xfrm>
            <a:off x="2423160" y="3337560"/>
            <a:ext cx="1965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2423160" y="3337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Neural Network</a:t>
            </a:r>
            <a:endParaRPr lang="en-US" sz="1250" dirty="0"/>
          </a:p>
        </p:txBody>
      </p:sp>
      <p:sp>
        <p:nvSpPr>
          <p:cNvPr id="62" name="Shape 59"/>
          <p:cNvSpPr/>
          <p:nvPr/>
        </p:nvSpPr>
        <p:spPr>
          <a:xfrm>
            <a:off x="4389120" y="333756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389120" y="33375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88.9%</a:t>
            </a:r>
            <a:endParaRPr lang="en-US" sz="1250" dirty="0"/>
          </a:p>
        </p:txBody>
      </p:sp>
      <p:sp>
        <p:nvSpPr>
          <p:cNvPr id="64" name="Shape 61"/>
          <p:cNvSpPr/>
          <p:nvPr/>
        </p:nvSpPr>
        <p:spPr>
          <a:xfrm>
            <a:off x="5394960" y="333756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394960" y="33375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0.943</a:t>
            </a:r>
            <a:endParaRPr lang="en-US" sz="1250" dirty="0"/>
          </a:p>
        </p:txBody>
      </p:sp>
      <p:sp>
        <p:nvSpPr>
          <p:cNvPr id="66" name="Shape 63"/>
          <p:cNvSpPr/>
          <p:nvPr/>
        </p:nvSpPr>
        <p:spPr>
          <a:xfrm>
            <a:off x="6400800" y="3337560"/>
            <a:ext cx="2651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400800" y="3337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data</a:t>
            </a:r>
            <a:endParaRPr lang="en-US" sz="1250" dirty="0"/>
          </a:p>
        </p:txBody>
      </p:sp>
      <p:sp>
        <p:nvSpPr>
          <p:cNvPr id="68" name="Shape 65"/>
          <p:cNvSpPr/>
          <p:nvPr/>
        </p:nvSpPr>
        <p:spPr>
          <a:xfrm>
            <a:off x="228600" y="3794760"/>
            <a:ext cx="219456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22860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 (X-Ray)</a:t>
            </a:r>
            <a:endParaRPr lang="en-US" sz="1250" dirty="0"/>
          </a:p>
        </p:txBody>
      </p:sp>
      <p:sp>
        <p:nvSpPr>
          <p:cNvPr id="70" name="Shape 67"/>
          <p:cNvSpPr/>
          <p:nvPr/>
        </p:nvSpPr>
        <p:spPr>
          <a:xfrm>
            <a:off x="2423160" y="3794760"/>
            <a:ext cx="196596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2423160" y="37947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(VGG-16)</a:t>
            </a:r>
            <a:endParaRPr lang="en-US" sz="1250" dirty="0"/>
          </a:p>
        </p:txBody>
      </p:sp>
      <p:sp>
        <p:nvSpPr>
          <p:cNvPr id="72" name="Shape 69"/>
          <p:cNvSpPr/>
          <p:nvPr/>
        </p:nvSpPr>
        <p:spPr>
          <a:xfrm>
            <a:off x="4389120" y="3794760"/>
            <a:ext cx="100584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4389120" y="37947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1250" dirty="0"/>
          </a:p>
        </p:txBody>
      </p:sp>
      <p:sp>
        <p:nvSpPr>
          <p:cNvPr id="74" name="Shape 71"/>
          <p:cNvSpPr/>
          <p:nvPr/>
        </p:nvSpPr>
        <p:spPr>
          <a:xfrm>
            <a:off x="5394960" y="3794760"/>
            <a:ext cx="100584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5394960" y="37947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0.981</a:t>
            </a:r>
            <a:endParaRPr lang="en-US" sz="1250" dirty="0"/>
          </a:p>
        </p:txBody>
      </p:sp>
      <p:sp>
        <p:nvSpPr>
          <p:cNvPr id="76" name="Shape 73"/>
          <p:cNvSpPr/>
          <p:nvPr/>
        </p:nvSpPr>
        <p:spPr>
          <a:xfrm>
            <a:off x="6400800" y="3794760"/>
            <a:ext cx="265176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6400800" y="3794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quality variation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Limitations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73152"/>
            <a:ext cx="2011680" cy="7680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" y="1097280"/>
            <a:ext cx="8503920" cy="1097280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0040" y="1097280"/>
            <a:ext cx="64008" cy="10972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 Training Data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02920" y="14813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mostly on healthy patients learn that 'healthy' is the safe default. SMOTE improved disease recall by 7.3% on average, but synthetic oversampling has limits when real minority-class examples are scarce or atypical.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20040" y="2331720"/>
            <a:ext cx="8503920" cy="1097280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" y="2331720"/>
            <a:ext cx="64008" cy="10972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2423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Opacity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02920" y="27157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neural networks offer no clear reasoning for individual predictions. Post-hoc explanation tools such as SHAP provide estimates of model behaviour, not genuine insight — yet clinicians need genuine, auditable reasoning to act on predictions safely.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320040" y="3566160"/>
            <a:ext cx="8503920" cy="1097280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0040" y="3566160"/>
            <a:ext cx="64008" cy="10972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Barriers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02920" y="39502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ML requires large volumes of legally protected patient data held across institutions with no established sharing mechanism. Federated learning is promising but still shows a performance gap versus centralised training.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Considerations &amp; Roadmap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73152"/>
            <a:ext cx="2011680" cy="7680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" y="107899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Considerations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20040" y="1536192"/>
            <a:ext cx="201168" cy="20116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Fairness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1792" y="17373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models for performance gaps across gender, age, and ethnicity before deployment.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20040" y="2450592"/>
            <a:ext cx="201168" cy="20116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Transparency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1792" y="2651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deserve disclosure when an algorithm influenced their care.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20040" y="3364992"/>
            <a:ext cx="201168" cy="20116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Trails &amp; Liability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21792" y="35661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model-assisted decision must be logged, timestamped, and reviewable.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617720" y="1078992"/>
            <a:ext cx="36576" cy="374904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00600" y="107899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Clinical Deployment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800600" y="1527048"/>
            <a:ext cx="274320" cy="2743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00600" y="1527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166360" y="15270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Data Infrastructure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800600" y="2185416"/>
            <a:ext cx="274320" cy="2743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00600" y="2185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166360" y="21854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Rigorously (External Datasets)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4800600" y="2843784"/>
            <a:ext cx="274320" cy="2743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00600" y="2843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166360" y="28437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Explanations With Every Prediction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4800600" y="3502152"/>
            <a:ext cx="274320" cy="2743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00600" y="3502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166360" y="35021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as Passive Flags in Workflows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4800600" y="4160520"/>
            <a:ext cx="274320" cy="2743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0060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166360" y="4160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Continuously Post-Deployment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73152"/>
            <a:ext cx="2011680" cy="7680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10789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65760" y="1545336"/>
            <a:ext cx="182880" cy="18288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148132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 (XGBoost) and deep learning consistently outperformed traditional statistical tools across all five clinical prediction tasks.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65760" y="2203704"/>
            <a:ext cx="182880" cy="18288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2139696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CNNs exceeded 94% accuracy — matching specialist-level performance on chest X-ray pneumonia detection.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65760" y="2862072"/>
            <a:ext cx="182880" cy="18288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2798064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matters as much as accuracy: models that cannot explain their predictions will not be adopted in clinical settings.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65760" y="3520440"/>
            <a:ext cx="182880" cy="18288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345643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learning, explainability tools (SHAP), and adaptive regulation are closing the remaining barriers to deployment.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65760" y="4251960"/>
            <a:ext cx="8412480" cy="566928"/>
          </a:xfrm>
          <a:prstGeom prst="rect">
            <a:avLst/>
          </a:prstGeom>
          <a:solidFill>
            <a:srgbClr val="FFF0F0"/>
          </a:solidFill>
          <a:ln w="9525">
            <a:solidFill>
              <a:srgbClr val="CC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4279392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no longer can ML predict disease — it clearly can. The harder question is how to build systems that patients, clinicians, and health institutions can genuinely trust.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73152"/>
            <a:ext cx="2011680" cy="7680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4320" y="1115568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Obermeyer &amp; Emanuel (2016). Predicting the Future — Big Data, ML, and Clinical Medicine. NEJM, 375(13).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" y="1837944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Rajpurkar et al. (2017). CheXNet: Radiologist-Level Pneumonia Detection. arXiv:1711.05225.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4320" y="25603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Esteva et al. (2017). Dermatologist-level classification of skin cancer. Nature, 542.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74320" y="3282696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Weng et al. (2017). ML to improve cardiovascular risk prediction. PLOS ONE, 12(4).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74320" y="400507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Rudin (2019). Stop explaining black box ML models. Nature Machine Intelligence, 1(5).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09160" y="1115568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Topol (2019). High-performance medicine: convergence of human and AI. Nature Medicine, 25(1).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09160" y="1837944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Reyna et al. (2019). Early prediction of sepsis from clinical data. Critical Care Medicine.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09160" y="25603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Obermeyer et al. (2019). Dissecting racial bias in a healthcare algorithm. Science, 366(6464).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709160" y="3282696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Chawla et al. (2002). SMOTE: Synthetic minority over-sampling technique. JAIR, 16.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709160" y="400507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Lundberg &amp; Lee (2017). A unified approach to interpreting model predictions. NeurIPS.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54864"/>
            <a:ext cx="2011680" cy="731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20116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1219</Words>
  <Application>Microsoft Office PowerPoint</Application>
  <PresentationFormat>On-screen Show (16:9)</PresentationFormat>
  <Paragraphs>211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saloni kumari</cp:lastModifiedBy>
  <cp:revision>2</cp:revision>
  <dcterms:created xsi:type="dcterms:W3CDTF">2026-05-01T06:16:24Z</dcterms:created>
  <dcterms:modified xsi:type="dcterms:W3CDTF">2026-05-01T06:26:22Z</dcterms:modified>
</cp:coreProperties>
</file>